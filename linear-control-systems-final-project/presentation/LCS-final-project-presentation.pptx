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rickwork-HD-R1a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 useBgFill="1">
        <p:nvSpPr>
          <p:cNvPr id="12" name="Freeform 11"/>
          <p:cNvSpPr/>
          <p:nvPr/>
        </p:nvSpPr>
        <p:spPr>
          <a:xfrm>
            <a:off x="-15875" y="0"/>
            <a:ext cx="11683810" cy="6588125"/>
          </a:xfrm>
          <a:custGeom>
            <a:avLst/>
            <a:gdLst/>
            <a:ahLst/>
            <a:cxnLst/>
            <a:rect l="l" t="t" r="r" b="b"/>
            <a:pathLst>
              <a:path w="11683810" h="6588125">
                <a:moveTo>
                  <a:pt x="0" y="0"/>
                </a:moveTo>
                <a:lnTo>
                  <a:pt x="11318691" y="0"/>
                </a:lnTo>
                <a:lnTo>
                  <a:pt x="11683810" y="5976938"/>
                </a:lnTo>
                <a:lnTo>
                  <a:pt x="15875" y="6588125"/>
                </a:lnTo>
                <a:cubicBezTo>
                  <a:pt x="10583" y="4386792"/>
                  <a:pt x="5292" y="2185458"/>
                  <a:pt x="0" y="0"/>
                </a:cubicBezTo>
                <a:close/>
              </a:path>
            </a:pathLst>
          </a:custGeom>
          <a:ln>
            <a:noFill/>
          </a:ln>
          <a:effectLst>
            <a:outerShdw blurRad="101600" dist="152400" dir="4380000" algn="tl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4" name="Freeform 13"/>
          <p:cNvSpPr/>
          <p:nvPr/>
        </p:nvSpPr>
        <p:spPr>
          <a:xfrm>
            <a:off x="0" y="4282257"/>
            <a:ext cx="11329257" cy="2028845"/>
          </a:xfrm>
          <a:custGeom>
            <a:avLst/>
            <a:gdLst/>
            <a:ahLst/>
            <a:cxnLst/>
            <a:rect l="l" t="t" r="r" b="b"/>
            <a:pathLst>
              <a:path w="11329257" h="2028845">
                <a:moveTo>
                  <a:pt x="0" y="588520"/>
                </a:moveTo>
                <a:lnTo>
                  <a:pt x="11244075" y="0"/>
                </a:lnTo>
                <a:lnTo>
                  <a:pt x="11329257" y="1424838"/>
                </a:lnTo>
                <a:lnTo>
                  <a:pt x="0" y="2028845"/>
                </a:lnTo>
                <a:lnTo>
                  <a:pt x="0" y="588520"/>
                </a:lnTo>
                <a:close/>
              </a:path>
            </a:pathLst>
          </a:cu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6" name="Freeform 25"/>
          <p:cNvSpPr/>
          <p:nvPr/>
        </p:nvSpPr>
        <p:spPr>
          <a:xfrm>
            <a:off x="0" y="0"/>
            <a:ext cx="8719579" cy="456877"/>
          </a:xfrm>
          <a:custGeom>
            <a:avLst/>
            <a:gdLst/>
            <a:ahLst/>
            <a:cxnLst/>
            <a:rect l="l" t="t" r="r" b="b"/>
            <a:pathLst>
              <a:path w="8719579" h="456877">
                <a:moveTo>
                  <a:pt x="0" y="0"/>
                </a:moveTo>
                <a:lnTo>
                  <a:pt x="8719579" y="0"/>
                </a:lnTo>
                <a:lnTo>
                  <a:pt x="0" y="456877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5" name="Freeform 14"/>
          <p:cNvSpPr/>
          <p:nvPr/>
        </p:nvSpPr>
        <p:spPr>
          <a:xfrm rot="21420000">
            <a:off x="-161800" y="293317"/>
            <a:ext cx="11367116" cy="5751804"/>
          </a:xfrm>
          <a:custGeom>
            <a:avLst/>
            <a:gdLst/>
            <a:ahLst/>
            <a:cxnLst/>
            <a:rect l="l" t="t" r="r" b="b"/>
            <a:pathLst>
              <a:path w="11367116" h="5751804">
                <a:moveTo>
                  <a:pt x="11346705" y="0"/>
                </a:moveTo>
                <a:cubicBezTo>
                  <a:pt x="11353509" y="1915114"/>
                  <a:pt x="11360312" y="3830229"/>
                  <a:pt x="11367116" y="5745343"/>
                </a:cubicBezTo>
                <a:lnTo>
                  <a:pt x="0" y="5751804"/>
                </a:lnTo>
              </a:path>
            </a:pathLst>
          </a:custGeom>
          <a:ln w="82550">
            <a:solidFill>
              <a:schemeClr val="tx1">
                <a:lumMod val="50000"/>
                <a:lumOff val="50000"/>
              </a:schemeClr>
            </a:solidFill>
            <a:miter lim="800000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 rot="21420000">
            <a:off x="891201" y="662656"/>
            <a:ext cx="9755187" cy="2766528"/>
          </a:xfrm>
        </p:spPr>
        <p:txBody>
          <a:bodyPr anchor="b">
            <a:normAutofit/>
          </a:bodyPr>
          <a:lstStyle>
            <a:lvl1pPr algn="r"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 rot="21420000">
            <a:off x="983062" y="3505209"/>
            <a:ext cx="9755187" cy="550333"/>
          </a:xfrm>
        </p:spPr>
        <p:txBody>
          <a:bodyPr anchor="t">
            <a:noAutofit/>
          </a:bodyPr>
          <a:lstStyle>
            <a:lvl1pPr marL="0" indent="0" algn="r">
              <a:buNone/>
              <a:defRPr sz="28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 rot="21420000">
            <a:off x="4948541" y="4578463"/>
            <a:ext cx="6143653" cy="1163112"/>
          </a:xfrm>
        </p:spPr>
        <p:txBody>
          <a:bodyPr/>
          <a:lstStyle>
            <a:lvl1pPr algn="ctr">
              <a:defRPr sz="54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D6875C63-07ED-4AB0-A057-7052E397CA3C}" type="datetimeFigureOut">
              <a:rPr lang="en-US" smtClean="0"/>
              <a:t>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 rot="21420000">
            <a:off x="-5560" y="4883024"/>
            <a:ext cx="4047239" cy="1195538"/>
          </a:xfrm>
        </p:spPr>
        <p:txBody>
          <a:bodyPr vert="horz" lIns="91440" tIns="45720" rIns="91440" bIns="45720" rtlCol="0" anchor="ctr"/>
          <a:lstStyle>
            <a:lvl1pPr algn="r">
              <a:defRPr lang="en-US" sz="5400" dirty="0"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21420000">
            <a:off x="9851758" y="3832648"/>
            <a:ext cx="907186" cy="498470"/>
          </a:xfrm>
        </p:spPr>
        <p:txBody>
          <a:bodyPr/>
          <a:lstStyle>
            <a:lvl1pPr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64DD91C4-157A-43EB-9DE1-E8F25347A18D}" type="slidenum">
              <a:rPr lang="en-US" smtClean="0"/>
              <a:t>‹#›</a:t>
            </a:fld>
            <a:endParaRPr lang="en-US"/>
          </a:p>
        </p:txBody>
      </p:sp>
      <p:sp>
        <p:nvSpPr>
          <p:cNvPr id="25" name="5-Point Star 24"/>
          <p:cNvSpPr/>
          <p:nvPr/>
        </p:nvSpPr>
        <p:spPr>
          <a:xfrm rot="21420000">
            <a:off x="4221385" y="5111356"/>
            <a:ext cx="515386" cy="515386"/>
          </a:xfrm>
          <a:prstGeom prst="star5">
            <a:avLst>
              <a:gd name="adj" fmla="val 26693"/>
              <a:gd name="hf" fmla="val 105146"/>
              <a:gd name="vf" fmla="val 110557"/>
            </a:avLst>
          </a:prstGeom>
          <a:solidFill>
            <a:schemeClr val="tx1">
              <a:alpha val="4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9650798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800" y="2063396"/>
            <a:ext cx="10394707" cy="33111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875C63-07ED-4AB0-A057-7052E397CA3C}" type="datetimeFigureOut">
              <a:rPr lang="en-US" smtClean="0"/>
              <a:t>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DD91C4-157A-43EB-9DE1-E8F25347A1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92078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4707" cy="3193487"/>
          </a:xfr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3742267"/>
            <a:ext cx="10394707" cy="1639614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875C63-07ED-4AB0-A057-7052E397CA3C}" type="datetimeFigureOut">
              <a:rPr lang="en-US" smtClean="0"/>
              <a:t>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DD91C4-157A-43EB-9DE1-E8F25347A1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99912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81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800" y="2063396"/>
            <a:ext cx="5088714" cy="3311189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5993971" y="2063396"/>
            <a:ext cx="5086538" cy="3311189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875C63-07ED-4AB0-A057-7052E397CA3C}" type="datetimeFigureOut">
              <a:rPr lang="en-US" smtClean="0"/>
              <a:t>2/5/2025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DD91C4-157A-43EB-9DE1-E8F25347A1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67520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4707" cy="11581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8356" y="2063396"/>
            <a:ext cx="4856158" cy="67999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685802" y="2861733"/>
            <a:ext cx="5088712" cy="2512852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8191" y="2063396"/>
            <a:ext cx="4864491" cy="67999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5993969" y="2861733"/>
            <a:ext cx="5088713" cy="2512852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875C63-07ED-4AB0-A057-7052E397CA3C}" type="datetimeFigureOut">
              <a:rPr lang="en-US" smtClean="0"/>
              <a:t>2/5/2025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DD91C4-157A-43EB-9DE1-E8F25347A1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76258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875C63-07ED-4AB0-A057-7052E397CA3C}" type="datetimeFigureOut">
              <a:rPr lang="en-US" smtClean="0"/>
              <a:t>2/5/2025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DD91C4-157A-43EB-9DE1-E8F25347A1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50981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875C63-07ED-4AB0-A057-7052E397CA3C}" type="datetimeFigureOut">
              <a:rPr lang="en-US" smtClean="0"/>
              <a:t>2/5/2025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DD91C4-157A-43EB-9DE1-E8F25347A1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28875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3643" y="685800"/>
            <a:ext cx="4126860" cy="2023252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46132" y="685800"/>
            <a:ext cx="6034375" cy="46887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3642" y="2709052"/>
            <a:ext cx="4126861" cy="2665533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875C63-07ED-4AB0-A057-7052E397CA3C}" type="datetimeFigureOut">
              <a:rPr lang="en-US" smtClean="0"/>
              <a:t>2/5/2025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DD91C4-157A-43EB-9DE1-E8F25347A1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01808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85800"/>
            <a:ext cx="6345302" cy="2023252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82362" y="0"/>
            <a:ext cx="3598146" cy="5071533"/>
          </a:xfr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1" y="2709052"/>
            <a:ext cx="6345301" cy="2362481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875C63-07ED-4AB0-A057-7052E397CA3C}" type="datetimeFigureOut">
              <a:rPr lang="en-US" smtClean="0"/>
              <a:t>2/5/2025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DD91C4-157A-43EB-9DE1-E8F25347A1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7265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106333"/>
            <a:ext cx="10394708" cy="58884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5801" y="685799"/>
            <a:ext cx="10392513" cy="3194903"/>
          </a:xfr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780" y="4702923"/>
            <a:ext cx="10394728" cy="682472"/>
          </a:xfrm>
        </p:spPr>
        <p:txBody>
          <a:bodyPr anchor="t"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875C63-07ED-4AB0-A057-7052E397CA3C}" type="datetimeFigureOut">
              <a:rPr lang="en-US" smtClean="0"/>
              <a:t>2/5/2025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DD91C4-157A-43EB-9DE1-E8F25347A1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93265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902" cy="3194903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779" y="4106333"/>
            <a:ext cx="10394729" cy="127360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875C63-07ED-4AB0-A057-7052E397CA3C}" type="datetimeFigureOut">
              <a:rPr lang="en-US" smtClean="0"/>
              <a:t>2/5/2025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DD91C4-157A-43EB-9DE1-E8F25347A1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395450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1732" y="685800"/>
            <a:ext cx="9525020" cy="2916704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550264" y="3610032"/>
            <a:ext cx="8667956" cy="377768"/>
          </a:xfrm>
        </p:spPr>
        <p:txBody>
          <a:bodyPr anchor="t">
            <a:normAutofit/>
          </a:bodyPr>
          <a:lstStyle>
            <a:lvl1pPr marL="0" indent="0" algn="r"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1" y="4106334"/>
            <a:ext cx="10396882" cy="1268252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875C63-07ED-4AB0-A057-7052E397CA3C}" type="datetimeFigureOut">
              <a:rPr lang="en-US" smtClean="0"/>
              <a:t>2/5/2025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DD91C4-157A-43EB-9DE1-E8F25347A18D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685801" y="89262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73083" y="292282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16414505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723854"/>
            <a:ext cx="10394707" cy="2511835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4247468"/>
            <a:ext cx="10394707" cy="114064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875C63-07ED-4AB0-A057-7052E397CA3C}" type="datetimeFigureOut">
              <a:rPr lang="en-US" smtClean="0"/>
              <a:t>2/5/2025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DD91C4-157A-43EB-9DE1-E8F25347A1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180475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85802" y="685800"/>
            <a:ext cx="10394706" cy="1151965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2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802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34622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234621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770380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770380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875C63-07ED-4AB0-A057-7052E397CA3C}" type="datetimeFigureOut">
              <a:rPr lang="en-US" smtClean="0"/>
              <a:t>2/5/2025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DD91C4-157A-43EB-9DE1-E8F25347A1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685137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1965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91840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5780" y="2063395"/>
            <a:ext cx="3310128" cy="1536725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91840" y="4389287"/>
            <a:ext cx="3310128" cy="98529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37410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235999" y="2063395"/>
            <a:ext cx="3310128" cy="1535237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235999" y="4389286"/>
            <a:ext cx="3310128" cy="98530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768944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768819" y="2063394"/>
            <a:ext cx="3310128" cy="1537196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768819" y="4389284"/>
            <a:ext cx="3310128" cy="985302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875C63-07ED-4AB0-A057-7052E397CA3C}" type="datetimeFigureOut">
              <a:rPr lang="en-US" smtClean="0"/>
              <a:t>2/5/2025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DD91C4-157A-43EB-9DE1-E8F25347A1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906102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800" y="2063396"/>
            <a:ext cx="10394707" cy="331119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875C63-07ED-4AB0-A057-7052E397CA3C}" type="datetimeFigureOut">
              <a:rPr lang="en-US" smtClean="0"/>
              <a:t>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DD91C4-157A-43EB-9DE1-E8F25347A1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353323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15862" y="685800"/>
            <a:ext cx="2264646" cy="4688785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800" y="685800"/>
            <a:ext cx="7904431" cy="4688785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875C63-07ED-4AB0-A057-7052E397CA3C}" type="datetimeFigureOut">
              <a:rPr lang="en-US" smtClean="0"/>
              <a:t>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DD91C4-157A-43EB-9DE1-E8F25347A1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660878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1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200400" cy="1600197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04267" y="685800"/>
            <a:ext cx="6079066" cy="548640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99734"/>
            <a:ext cx="3200400" cy="3810001"/>
          </a:xfr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800"/>
              </a:spcBef>
              <a:buNone/>
              <a:defRPr sz="13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875C63-07ED-4AB0-A057-7052E397CA3C}" type="datetimeFigureOut">
              <a:rPr lang="en-US" smtClean="0"/>
              <a:t>2/5/2025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DD91C4-157A-43EB-9DE1-E8F25347A1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66490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jp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rickwork-HD-R1a.jpg"/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10" name="Group 9"/>
          <p:cNvGrpSpPr/>
          <p:nvPr/>
        </p:nvGrpSpPr>
        <p:grpSpPr>
          <a:xfrm>
            <a:off x="-25397" y="0"/>
            <a:ext cx="12005350" cy="6644081"/>
            <a:chOff x="-25397" y="0"/>
            <a:chExt cx="12005350" cy="6644081"/>
          </a:xfrm>
        </p:grpSpPr>
        <p:sp useBgFill="1">
          <p:nvSpPr>
            <p:cNvPr id="11" name="Rectangle 10"/>
            <p:cNvSpPr/>
            <p:nvPr/>
          </p:nvSpPr>
          <p:spPr>
            <a:xfrm>
              <a:off x="1" y="0"/>
              <a:ext cx="11979952" cy="6644081"/>
            </a:xfrm>
            <a:prstGeom prst="rect">
              <a:avLst/>
            </a:prstGeom>
            <a:ln>
              <a:noFill/>
            </a:ln>
            <a:effectLst>
              <a:outerShdw blurRad="98425" dist="76200" dir="4380000" algn="tl" rotWithShape="0">
                <a:srgbClr val="000000">
                  <a:alpha val="68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-25397" y="0"/>
              <a:ext cx="11773291" cy="6419514"/>
            </a:xfrm>
            <a:custGeom>
              <a:avLst/>
              <a:gdLst/>
              <a:ahLst/>
              <a:cxnLst/>
              <a:rect l="l" t="t" r="r" b="b"/>
              <a:pathLst>
                <a:path w="11773291" h="6419514">
                  <a:moveTo>
                    <a:pt x="11750059" y="0"/>
                  </a:moveTo>
                  <a:lnTo>
                    <a:pt x="11773291" y="6419514"/>
                  </a:lnTo>
                  <a:lnTo>
                    <a:pt x="0" y="6411047"/>
                  </a:lnTo>
                </a:path>
              </a:pathLst>
            </a:custGeom>
            <a:ln w="82550">
              <a:solidFill>
                <a:schemeClr val="tx1">
                  <a:lumMod val="50000"/>
                  <a:lumOff val="50000"/>
                </a:schemeClr>
              </a:solidFill>
              <a:miter lim="800000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sp>
        <p:sp>
          <p:nvSpPr>
            <p:cNvPr id="13" name="Rectangle 12"/>
            <p:cNvSpPr/>
            <p:nvPr/>
          </p:nvSpPr>
          <p:spPr>
            <a:xfrm>
              <a:off x="1" y="5600215"/>
              <a:ext cx="11706512" cy="780581"/>
            </a:xfrm>
            <a:prstGeom prst="rect">
              <a:avLst/>
            </a:prstGeom>
            <a:gradFill flip="none" rotWithShape="1">
              <a:gsLst>
                <a:gs pos="34000">
                  <a:schemeClr val="accent1"/>
                </a:gs>
                <a:gs pos="100000">
                  <a:schemeClr val="accent1">
                    <a:lumMod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19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063396"/>
            <a:ext cx="10396883" cy="33111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98083" y="5757334"/>
            <a:ext cx="3784600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200" cap="all"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D6875C63-07ED-4AB0-A057-7052E397CA3C}" type="datetimeFigureOut">
              <a:rPr lang="en-US" smtClean="0"/>
              <a:t>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1" y="5757334"/>
            <a:ext cx="5499719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200" cap="all"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287121" y="5757334"/>
            <a:ext cx="907186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200" cap="all"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64DD91C4-157A-43EB-9DE1-E8F25347A1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4933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  <p:sldLayoutId id="2147483690" r:id="rId1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solidFill>
            <a:schemeClr val="accent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EC928E-4E56-E12C-4429-D548BA20F1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 rot="21420000">
            <a:off x="881827" y="662901"/>
            <a:ext cx="9755187" cy="2408293"/>
          </a:xfrm>
        </p:spPr>
        <p:txBody>
          <a:bodyPr/>
          <a:lstStyle/>
          <a:p>
            <a:pPr algn="ctr"/>
            <a:r>
              <a:rPr lang="fa-IR" dirty="0"/>
              <a:t>پروژه کنترل خطی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04163D-DC7F-C306-81A5-8955689A23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 rot="21420000">
            <a:off x="976374" y="3249796"/>
            <a:ext cx="9755187" cy="805922"/>
          </a:xfrm>
        </p:spPr>
        <p:txBody>
          <a:bodyPr/>
          <a:lstStyle/>
          <a:p>
            <a:pPr rtl="1"/>
            <a:r>
              <a:rPr lang="fa-IR" dirty="0"/>
              <a:t>مبینا یوسفی مقدم          </a:t>
            </a:r>
          </a:p>
          <a:p>
            <a:pPr rtl="1"/>
            <a:r>
              <a:rPr lang="fa-IR" dirty="0"/>
              <a:t>شماره دانشجویی: 40116453</a:t>
            </a:r>
          </a:p>
          <a:p>
            <a:pPr algn="r" rtl="1"/>
            <a:endParaRPr lang="fa-IR" dirty="0"/>
          </a:p>
        </p:txBody>
      </p:sp>
    </p:spTree>
    <p:extLst>
      <p:ext uri="{BB962C8B-B14F-4D97-AF65-F5344CB8AC3E}">
        <p14:creationId xmlns:p14="http://schemas.microsoft.com/office/powerpoint/2010/main" val="36914816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B5CE51-B668-AC53-65FF-A67460FECD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 1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370A99-9494-021A-60FA-84D44F3C559B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pPr marL="285750" indent="-285750" algn="r" rtl="1">
              <a:buFont typeface="Arial" panose="020B0604020202020204" pitchFamily="34" charset="0"/>
              <a:buChar char="•"/>
            </a:pPr>
            <a:r>
              <a:rPr lang="fa-IR" sz="2400" dirty="0"/>
              <a:t>هدف این سؤال بررسی پاسخ فرکانسی یک سیستم با استفاده از داده‌های اندازه‌گیری شده، رسم نمودار بودی و تحلیل رفتار سیستم از طریق نمودارهای بهره و فاز است.</a:t>
            </a:r>
            <a:endParaRPr lang="en-US" sz="24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5ED5B42-D771-D9B9-B25D-1CDA5149057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7000" y="586285"/>
            <a:ext cx="5947410" cy="89001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B13D252-1EF6-D460-BB9E-9EFF6F33C8B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7000" y="1615652"/>
            <a:ext cx="5947410" cy="201803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481A234-8E79-49E3-CD2F-4D1D1CFEE88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7000" y="3773032"/>
            <a:ext cx="5932170" cy="668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91048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1C23551-3BDA-4FB3-8D62-D34AD037D5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9105" y="431272"/>
            <a:ext cx="5939790" cy="470852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C9238B6-B796-AC0B-7DDB-3E7B224F47A5}"/>
              </a:ext>
            </a:extLst>
          </p:cNvPr>
          <p:cNvSpPr txBox="1"/>
          <p:nvPr/>
        </p:nvSpPr>
        <p:spPr>
          <a:xfrm>
            <a:off x="8136467" y="719667"/>
            <a:ext cx="309033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fa-IR" sz="3200" b="1" dirty="0"/>
              <a:t>خروجی: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7190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7766CC-A5FA-ED7F-7684-B5963B0998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 2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AB9931-1256-112E-2D35-42109F8F17CF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pPr marL="285750" indent="-285750" algn="r" rtl="1">
              <a:buFont typeface="Arial" panose="020B0604020202020204" pitchFamily="34" charset="0"/>
              <a:buChar char="•"/>
            </a:pPr>
            <a:r>
              <a:rPr lang="fa-IR" sz="2400" dirty="0"/>
              <a:t>هدف این سؤال تحلیل پاسخ فرکانسی یک سیستم، تعیین مرجع سیستم، میزان تأخیر و کمیته فاز آن با استفاده از نمودارهای بودی و روابط ریاضی مرتبط است.</a:t>
            </a:r>
            <a:endParaRPr lang="en-US" sz="24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A9D98B4-5CEA-24D3-7AB7-27DB7356533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53288" y="457200"/>
            <a:ext cx="5296359" cy="4724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99362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2B36F6-4908-918D-4596-64DEC22584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 3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B12E19-233E-7211-E4C3-737F436BC7A5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pPr marL="285750" indent="-285750" algn="r" rtl="1">
              <a:buFont typeface="Arial" panose="020B0604020202020204" pitchFamily="34" charset="0"/>
              <a:buChar char="•"/>
            </a:pPr>
            <a:r>
              <a:rPr lang="fa-IR" sz="2000" dirty="0"/>
              <a:t>هدف این سؤال استفاده از ابزار  </a:t>
            </a:r>
            <a:r>
              <a:rPr lang="en-US" sz="2000" b="1" dirty="0"/>
              <a:t>System Identification</a:t>
            </a:r>
            <a:r>
              <a:rPr lang="en-US" sz="2000" dirty="0"/>
              <a:t> </a:t>
            </a:r>
            <a:r>
              <a:rPr lang="fa-IR" sz="2000" dirty="0"/>
              <a:t> در متلب برای تعیین تابع تبدیل یک سیستم از داده‌های پاسخ فرکانسی و مقایسه آن با تابع تبدیل تخمین‌زده شده به کمک روش‌های دیگر است.</a:t>
            </a:r>
            <a:endParaRPr lang="en-US" sz="20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C6D001D-77F2-CD9C-8813-3C47F1BA96B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03738" y="1482735"/>
            <a:ext cx="6080125" cy="2521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0183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18D592F-8131-4CC6-1334-B94F769F86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990600"/>
            <a:ext cx="3755793" cy="337545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FB1E6B7-2BD7-F8FE-1451-59AF7909077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9295" y="990600"/>
            <a:ext cx="3722371" cy="3375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69672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D404CB-41AE-F32A-4467-A7C82AB2CF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 4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39AC18-4DF5-40E1-841A-161A3556891A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pPr algn="r" rtl="1"/>
            <a:r>
              <a:rPr lang="fa-IR" sz="2800" dirty="0"/>
              <a:t>هدف این سؤال بررسی پایداری سیستم با استفاده از معیارهای پایداری و تحلیل پارامترهای آن، مقایسه با نتایج قبلی و تعیین شرایط لازم برای حفظ پایداری سیستم است.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9760459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1B302A-6874-EFC5-F914-8A66A7B4DA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 5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AB02F4E-58E7-4354-7CAC-5312B64544D2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pPr marL="285750" indent="-285750" algn="r" rtl="1">
              <a:buFont typeface="Arial" panose="020B0604020202020204" pitchFamily="34" charset="0"/>
              <a:buChar char="•"/>
            </a:pPr>
            <a:r>
              <a:rPr lang="fa-IR" sz="1800" dirty="0"/>
              <a:t>هدف این سؤال بررسی پایداری و پاسخ سیستم با استفاده از مکان هندسی ریشه‌ها و تحلیل کنترل‌کننده‌های مختلف مانند </a:t>
            </a:r>
            <a:r>
              <a:rPr lang="en-US" sz="1800" b="1" dirty="0"/>
              <a:t>PI</a:t>
            </a:r>
            <a:r>
              <a:rPr lang="en-US" sz="1800" dirty="0"/>
              <a:t> </a:t>
            </a:r>
            <a:r>
              <a:rPr lang="fa-IR" sz="1800" dirty="0"/>
              <a:t> و </a:t>
            </a:r>
            <a:r>
              <a:rPr lang="en-US" sz="1800" b="1" dirty="0"/>
              <a:t>PD</a:t>
            </a:r>
            <a:r>
              <a:rPr lang="en-US" sz="1800" dirty="0"/>
              <a:t> </a:t>
            </a:r>
            <a:r>
              <a:rPr lang="fa-IR" sz="1800" dirty="0"/>
              <a:t> است تا تأثیر آن‌ها بر پایداری و عملکرد سیستم ارزیابی شود.</a:t>
            </a:r>
            <a:endParaRPr lang="en-US" sz="18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C04A3B4-A0A9-3D0F-0FFC-2F587E5801F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86803" y="93133"/>
            <a:ext cx="6080125" cy="267287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E95FC51-F43B-C01F-A3FF-0067BE4BF46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86803" y="2766012"/>
            <a:ext cx="5943600" cy="3455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62945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5E2AF28-AD91-1EE9-4C26-F47E913BE6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8932" y="206058"/>
            <a:ext cx="7128934" cy="4928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32324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C19A694-C03F-FE30-8232-5896404FDB0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6266" y="541443"/>
            <a:ext cx="8985196" cy="4250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71545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EEC0D0-EE3B-2A47-9584-6959B813EB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 6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57CEEF-E2E5-DB9B-A11B-E47FF88529C3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pPr marL="285750" indent="-285750" algn="r" rtl="1">
              <a:buFont typeface="Arial" panose="020B0604020202020204" pitchFamily="34" charset="0"/>
              <a:buChar char="•"/>
            </a:pPr>
            <a:r>
              <a:rPr lang="fa-IR" sz="2000" dirty="0"/>
              <a:t>هدف این سؤال تحلیل تأثیر </a:t>
            </a:r>
            <a:r>
              <a:rPr lang="fa-IR" sz="2000" b="1" dirty="0"/>
              <a:t>کنترل‌کننده‌های </a:t>
            </a:r>
            <a:r>
              <a:rPr lang="en-US" sz="2000" b="1" dirty="0"/>
              <a:t>PID</a:t>
            </a:r>
            <a:r>
              <a:rPr lang="en-US" sz="2000" dirty="0"/>
              <a:t> </a:t>
            </a:r>
            <a:r>
              <a:rPr lang="fa-IR" sz="2000" dirty="0"/>
              <a:t>بر پایداری و عملکرد سیستم با استفاده از ابزار  </a:t>
            </a:r>
            <a:r>
              <a:rPr lang="en-US" sz="2000" b="1" dirty="0" err="1"/>
              <a:t>Sisotool</a:t>
            </a:r>
            <a:r>
              <a:rPr lang="fa-IR" sz="2000" b="1" dirty="0"/>
              <a:t> </a:t>
            </a:r>
            <a:r>
              <a:rPr lang="en-US" sz="2000" dirty="0"/>
              <a:t> </a:t>
            </a:r>
            <a:r>
              <a:rPr lang="fa-IR" sz="2000" dirty="0"/>
              <a:t>در متلب، مقایسه سیستم با و بدون کنترل‌کننده، و بررسی شاخص‌های پاسخ گذرا برای بهینه‌سازی طراحی سیستم کنترلی است.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78CE1281-36D2-6BEC-BDE9-1B5F55C60B3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95955" y="153861"/>
            <a:ext cx="5197290" cy="53649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2102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2168EB4-7B55-1210-8246-096F6CFADDE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9967" y="300672"/>
            <a:ext cx="8492066" cy="4802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77296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48F7CF6-B08A-B71C-3756-F70DED175B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9149" y="285433"/>
            <a:ext cx="6080733" cy="164496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63ABB5B-0751-7651-262F-6DCDE1256CE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9149" y="2113809"/>
            <a:ext cx="6080732" cy="21910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66280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31E9D51-0A35-D7B1-10E9-3A0022C9DC7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27766" y="234740"/>
            <a:ext cx="8136467" cy="49670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13908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0E680B0-1C44-112C-52A1-D74487B568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72603" y="121738"/>
            <a:ext cx="5246793" cy="225633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F8DFC2B-CC89-F906-825B-3705CFA1B0D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3565" y="2439443"/>
            <a:ext cx="5944870" cy="3168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99604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02E0437-152C-2789-F5EA-8DCCE375A0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3073" y="303741"/>
            <a:ext cx="2636520" cy="210185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7AEA189-1685-2A7F-E5AC-C4389D22931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7937" y="2712508"/>
            <a:ext cx="5941060" cy="2279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459517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BF48AB-427B-A679-0B82-E93DE85C12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 7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11D6903-0228-07B7-EAD0-16616788ADF1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pPr marL="285750" indent="-285750" algn="r" rtl="1">
              <a:buFont typeface="Arial" panose="020B0604020202020204" pitchFamily="34" charset="0"/>
              <a:buChar char="•"/>
            </a:pPr>
            <a:r>
              <a:rPr lang="fa-IR" sz="2000" dirty="0"/>
              <a:t>هدف این سؤال طراحی یک کنترل‌کننده برای برآورده کردن خواسته‌های کنترلی مشخص‌شده (مانند کاهش خطای ماندگار، کمینه کردن درصد فرورفتگی، و تنظیم زمان نشست) و تحلیل رفتار سیستم تحت ورودی‌های مختلف (پله و شیب) است.</a:t>
            </a:r>
            <a:endParaRPr lang="en-US" sz="20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78AD319-DFA2-B3B8-B242-2A6DDA1A33E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04934" y="788920"/>
            <a:ext cx="5311600" cy="3993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15229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E2EAF29-8D0E-DFA4-AE6C-FD1B127DF2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6904" y="1457536"/>
            <a:ext cx="8246938" cy="2267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33215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107267D-1C41-9660-39BE-26DC101040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4733" y="894926"/>
            <a:ext cx="5943600" cy="3916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87963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7500E8F-DFEF-8C89-FC61-0D9F5083C7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7467" y="1536806"/>
            <a:ext cx="6827078" cy="1494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931227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E1A6A98-FA36-7FE7-7CBB-51AE361506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2997" y="829945"/>
            <a:ext cx="7666005" cy="316632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8194985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DD22E46-89A7-2FD7-6FC7-88E405520B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41600" y="224578"/>
            <a:ext cx="5943600" cy="242951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ABCF21C-69C5-C8FE-671B-477A683916D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41600" y="2794107"/>
            <a:ext cx="5943600" cy="237045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69260468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ain Event">
  <a:themeElements>
    <a:clrScheme name="Main Event">
      <a:dk1>
        <a:sysClr val="windowText" lastClr="000000"/>
      </a:dk1>
      <a:lt1>
        <a:sysClr val="window" lastClr="FFFFFF"/>
      </a:lt1>
      <a:dk2>
        <a:srgbClr val="424242"/>
      </a:dk2>
      <a:lt2>
        <a:srgbClr val="C8C8C8"/>
      </a:lt2>
      <a:accent1>
        <a:srgbClr val="B80E0F"/>
      </a:accent1>
      <a:accent2>
        <a:srgbClr val="A6987D"/>
      </a:accent2>
      <a:accent3>
        <a:srgbClr val="7F9A71"/>
      </a:accent3>
      <a:accent4>
        <a:srgbClr val="64969F"/>
      </a:accent4>
      <a:accent5>
        <a:srgbClr val="9B75B2"/>
      </a:accent5>
      <a:accent6>
        <a:srgbClr val="80737A"/>
      </a:accent6>
      <a:hlink>
        <a:srgbClr val="F21213"/>
      </a:hlink>
      <a:folHlink>
        <a:srgbClr val="B6A394"/>
      </a:folHlink>
    </a:clrScheme>
    <a:fontScheme name="Main Event">
      <a:majorFont>
        <a:latin typeface="Impact" panose="020B080603090205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Impact" panose="020B080603090205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ain Even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blipFill>
          <a:blip xmlns:r="http://schemas.openxmlformats.org/officeDocument/2006/relationships" r:embed="rId1">
            <a:duotone>
              <a:schemeClr val="phClr">
                <a:shade val="88000"/>
                <a:lumMod val="88000"/>
              </a:schemeClr>
              <a:schemeClr val="phClr"/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25400" dist="127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0"/>
        </a:gradFill>
        <a:blipFill>
          <a:blip xmlns:r="http://schemas.openxmlformats.org/officeDocument/2006/relationships" r:embed="rId2">
            <a:duotone>
              <a:schemeClr val="phClr">
                <a:shade val="48000"/>
                <a:satMod val="110000"/>
                <a:lumMod val="40000"/>
              </a:schemeClr>
              <a:schemeClr val="phClr">
                <a:tint val="90000"/>
                <a:lumMod val="10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in Event" id="{AC372BB4-D83D-411E-B849-B641926BA760}" vid="{F1EFBDE3-1A95-4E3D-81AD-1F53D65BEA0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TM04033927[[fn=Main Event]]</Template>
  <TotalTime>48</TotalTime>
  <Words>265</Words>
  <Application>Microsoft Office PowerPoint</Application>
  <PresentationFormat>Widescreen</PresentationFormat>
  <Paragraphs>18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Impact</vt:lpstr>
      <vt:lpstr>Main Event</vt:lpstr>
      <vt:lpstr>پروژه کنترل خطی</vt:lpstr>
      <vt:lpstr>Question 1</vt:lpstr>
      <vt:lpstr>PowerPoint Presentation</vt:lpstr>
      <vt:lpstr>Question 2</vt:lpstr>
      <vt:lpstr>Question 3</vt:lpstr>
      <vt:lpstr>PowerPoint Presentation</vt:lpstr>
      <vt:lpstr>Question 4</vt:lpstr>
      <vt:lpstr>Question 5</vt:lpstr>
      <vt:lpstr>PowerPoint Presentation</vt:lpstr>
      <vt:lpstr>PowerPoint Presentation</vt:lpstr>
      <vt:lpstr>Question 6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Question 7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Yazdan Bayat</dc:creator>
  <cp:lastModifiedBy>Yazdan Bayat</cp:lastModifiedBy>
  <cp:revision>3</cp:revision>
  <dcterms:created xsi:type="dcterms:W3CDTF">2025-02-04T19:50:29Z</dcterms:created>
  <dcterms:modified xsi:type="dcterms:W3CDTF">2025-02-05T12:21:11Z</dcterms:modified>
</cp:coreProperties>
</file>